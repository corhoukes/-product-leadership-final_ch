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63AE52-F508-4103-A71A-39E4773A4A56}" v="1" dt="2026-10-15T11:56:33.809"/>
    <p1510:client id="{F5BD20C1-918C-139F-268B-18C09FB9C6CD}" v="24" dt="2026-10-15T11:53:23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3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39A6-D740-497B-8F3C-5DBF0E72DB20}" type="datetimeFigureOut"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44437-50B8-4911-94D5-B00403F124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22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4E79"/>
                </a:solidFill>
              </a:rPr>
              <a:t>Meridian OKR-Based Now / Next / Later Roadmap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182880" y="731520"/>
            <a:ext cx="164592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8229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OKR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011680" y="731520"/>
            <a:ext cx="32004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0" y="8229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NOW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94960" y="731520"/>
            <a:ext cx="292608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94960" y="8229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NEXT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8503920" y="731520"/>
            <a:ext cx="329184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0" y="822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LATER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82880" y="1188720"/>
            <a:ext cx="1645920" cy="1554480"/>
          </a:xfrm>
          <a:prstGeom prst="rect">
            <a:avLst/>
          </a:prstGeom>
          <a:solidFill>
            <a:srgbClr val="EAF2F8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8600" y="123444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OKR1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Simplest Documentation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1188720"/>
            <a:ext cx="3200400" cy="1554480"/>
          </a:xfrm>
          <a:prstGeom prst="rect">
            <a:avLst/>
          </a:prstGeom>
          <a:solidFill>
            <a:srgbClr val="E2F0D9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57400" y="12344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We bet reducing documentation effort will increase field adoption and reporting consistency.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We bet proactive updates will improve coordination and reduce communication gaps.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1188720"/>
            <a:ext cx="2926080" cy="1554480"/>
          </a:xfrm>
          <a:prstGeom prst="rect">
            <a:avLst/>
          </a:prstGeom>
          <a:solidFill>
            <a:srgbClr val="DDEBF7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0680" y="12344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Enable documentation through photos, voice &amp; text.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Capture issues and progress where work happens.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503920" y="1188720"/>
            <a:ext cx="3291840" cy="1554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49640" y="12344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AI-generated project documentation.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Primary communication layer for project stakeholders.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2880" y="2834640"/>
            <a:ext cx="1645920" cy="1554480"/>
          </a:xfrm>
          <a:prstGeom prst="rect">
            <a:avLst/>
          </a:prstGeom>
          <a:solidFill>
            <a:srgbClr val="EAF2F8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600" y="288036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OKR2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Automated Visibility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2834640"/>
            <a:ext cx="3200400" cy="1554480"/>
          </a:xfrm>
          <a:prstGeom prst="rect">
            <a:avLst/>
          </a:prstGeom>
          <a:solidFill>
            <a:srgbClr val="E2F0D9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057400" y="28803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We bet capturing labor activity in existing workflows will create reliable project visibility without admin burden.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2834640"/>
            <a:ext cx="2926080" cy="1554480"/>
          </a:xfrm>
          <a:prstGeom prst="rect">
            <a:avLst/>
          </a:prstGeom>
          <a:solidFill>
            <a:srgbClr val="DDEBF7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40680" y="28803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Transform field activity into structured updates automatically.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Surface project health automatically.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03920" y="2834640"/>
            <a:ext cx="3291840" cy="1554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49640" y="28803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Portfolio source of truth.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Predict project risks and recommend actions.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4480560"/>
            <a:ext cx="1645920" cy="1554480"/>
          </a:xfrm>
          <a:prstGeom prst="rect">
            <a:avLst/>
          </a:prstGeom>
          <a:solidFill>
            <a:srgbClr val="EAF2F8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" y="452628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OKR3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</a:rPr>
              <a:t>Retention &amp; Value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011680" y="4480560"/>
            <a:ext cx="3200400" cy="1554480"/>
          </a:xfrm>
          <a:prstGeom prst="rect">
            <a:avLst/>
          </a:prstGeom>
          <a:solidFill>
            <a:srgbClr val="E2F0D9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57400" y="45262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Establish adoption and value baselines.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4480560"/>
            <a:ext cx="2926080" cy="1554480"/>
          </a:xfrm>
          <a:prstGeom prst="rect">
            <a:avLst/>
          </a:prstGeom>
          <a:solidFill>
            <a:srgbClr val="DDEBF7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40680" y="45262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Demonstrate adoption drives business outcomes and renewals.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03920" y="4480560"/>
            <a:ext cx="3291840" cy="1554480"/>
          </a:xfrm>
          <a:prstGeom prst="rect">
            <a:avLst/>
          </a:prstGeom>
          <a:solidFill>
            <a:srgbClr val="E7E6E6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49640" y="4526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</a:rPr>
              <a:t>Identify adoption risks proactively and strengthen value realization.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C5A5F2-4452-CC35-B52B-F05E140AD9E7}"/>
              </a:ext>
            </a:extLst>
          </p:cNvPr>
          <p:cNvSpPr txBox="1"/>
          <p:nvPr/>
        </p:nvSpPr>
        <p:spPr>
          <a:xfrm>
            <a:off x="992038" y="596660"/>
            <a:ext cx="10107283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Segoe UI"/>
                <a:ea typeface="Segoe UI"/>
                <a:cs typeface="Segoe UI"/>
              </a:rPr>
              <a:t>NOW</a:t>
            </a:r>
            <a:endParaRPr lang="en-US" b="1" i="0">
              <a:latin typeface="Segoe UI"/>
              <a:ea typeface="Segoe UI"/>
              <a:cs typeface="Segoe UI"/>
            </a:endParaRPr>
          </a:p>
          <a:p>
            <a:br>
              <a:rPr lang="en-US" b="1" dirty="0">
                <a:latin typeface="Segoe UI"/>
                <a:ea typeface="Segoe UI"/>
                <a:cs typeface="Segoe UI"/>
              </a:rPr>
            </a:br>
            <a:r>
              <a:rPr lang="en-US" b="1" i="0">
                <a:latin typeface="Segoe UI"/>
                <a:ea typeface="Segoe UI"/>
                <a:cs typeface="Segoe UI"/>
              </a:rPr>
              <a:t>Drive Field Adoption Through Simplicity</a:t>
            </a:r>
          </a:p>
          <a:p>
            <a:br>
              <a:rPr lang="en-US" dirty="0">
                <a:latin typeface="Segoe UI"/>
                <a:ea typeface="Segoe UI"/>
                <a:cs typeface="Segoe UI"/>
              </a:rPr>
            </a:br>
            <a:r>
              <a:rPr lang="en-US" b="0" i="0">
                <a:latin typeface="Segoe UI"/>
                <a:ea typeface="Segoe UI"/>
                <a:cs typeface="Segoe UI"/>
              </a:rPr>
              <a:t>🎯 </a:t>
            </a:r>
            <a:r>
              <a:rPr lang="en-US" b="1" i="0">
                <a:latin typeface="Segoe UI"/>
                <a:ea typeface="Segoe UI"/>
                <a:cs typeface="Segoe UI"/>
              </a:rPr>
              <a:t>We bet reducing the effort required to document daily work will increase field adoption and reporting consistency for superintendents and foremen.</a:t>
            </a:r>
            <a:r>
              <a:rPr lang="en-US" b="0" i="0" dirty="0">
                <a:latin typeface="Segoe UI"/>
                <a:ea typeface="Segoe UI"/>
                <a:cs typeface="Segoe UI"/>
              </a:rPr>
              <a:t> </a:t>
            </a:r>
            <a:r>
              <a:rPr lang="en-US" b="0" i="1">
                <a:latin typeface="Segoe UI"/>
                <a:ea typeface="Segoe UI"/>
                <a:cs typeface="Segoe UI"/>
              </a:rPr>
              <a:t>(OKR1)</a:t>
            </a:r>
          </a:p>
          <a:p>
            <a:br>
              <a:rPr lang="en-US" dirty="0">
                <a:latin typeface="Segoe UI"/>
                <a:ea typeface="Segoe UI"/>
                <a:cs typeface="Segoe UI"/>
              </a:rPr>
            </a:br>
            <a:r>
              <a:rPr lang="en-US" b="0" i="0">
                <a:latin typeface="Segoe UI"/>
                <a:ea typeface="Segoe UI"/>
                <a:cs typeface="Segoe UI"/>
              </a:rPr>
              <a:t>🎯 </a:t>
            </a:r>
            <a:r>
              <a:rPr lang="en-US" b="1" i="0">
                <a:latin typeface="Segoe UI"/>
                <a:ea typeface="Segoe UI"/>
                <a:cs typeface="Segoe UI"/>
              </a:rPr>
              <a:t>We bet delivering project updates proactively will improve team coordination and reduce communication gaps for field teams.</a:t>
            </a:r>
            <a:r>
              <a:rPr lang="en-US" b="0" i="0" dirty="0">
                <a:latin typeface="Segoe UI"/>
                <a:ea typeface="Segoe UI"/>
                <a:cs typeface="Segoe UI"/>
              </a:rPr>
              <a:t> </a:t>
            </a:r>
            <a:r>
              <a:rPr lang="en-US" b="0" i="1">
                <a:latin typeface="Segoe UI"/>
                <a:ea typeface="Segoe UI"/>
                <a:cs typeface="Segoe UI"/>
              </a:rPr>
              <a:t>(OKR1)</a:t>
            </a:r>
          </a:p>
          <a:p>
            <a:br>
              <a:rPr lang="en-US" dirty="0">
                <a:latin typeface="Segoe UI"/>
                <a:ea typeface="Segoe UI"/>
                <a:cs typeface="Segoe UI"/>
              </a:rPr>
            </a:br>
            <a:r>
              <a:rPr lang="en-US" b="0" i="0">
                <a:latin typeface="Segoe UI"/>
                <a:ea typeface="Segoe UI"/>
                <a:cs typeface="Segoe UI"/>
              </a:rPr>
              <a:t>🎯 </a:t>
            </a:r>
            <a:r>
              <a:rPr lang="en-US" b="1" i="0">
                <a:latin typeface="Segoe UI"/>
                <a:ea typeface="Segoe UI"/>
                <a:cs typeface="Segoe UI"/>
              </a:rPr>
              <a:t>We bet capturing labor activity as part of everyday workflows will create reliable project visibility for project managers without adding administrative burden for field users.</a:t>
            </a:r>
            <a:r>
              <a:rPr lang="en-US" b="0" i="0" dirty="0">
                <a:latin typeface="Segoe UI"/>
                <a:ea typeface="Segoe UI"/>
                <a:cs typeface="Segoe UI"/>
              </a:rPr>
              <a:t> </a:t>
            </a:r>
            <a:r>
              <a:rPr lang="en-US" b="0" i="1">
                <a:latin typeface="Segoe UI"/>
                <a:ea typeface="Segoe UI"/>
                <a:cs typeface="Segoe UI"/>
              </a:rPr>
              <a:t>(OKR2)</a:t>
            </a:r>
          </a:p>
          <a:p>
            <a:br>
              <a:rPr lang="en-US" dirty="0">
                <a:latin typeface="Segoe UI"/>
                <a:ea typeface="Segoe UI"/>
                <a:cs typeface="Segoe UI"/>
              </a:rPr>
            </a:br>
            <a:r>
              <a:rPr lang="en-US" b="0" i="0">
                <a:latin typeface="Segoe UI"/>
                <a:ea typeface="Segoe UI"/>
                <a:cs typeface="Segoe UI"/>
              </a:rPr>
              <a:t>These bets clearly connect the action, expected outcome, and target audience while remaining outcome-focused rather than feature-focused. They also tell a coherent story: </a:t>
            </a:r>
            <a:r>
              <a:rPr lang="en-US" b="1" i="0">
                <a:latin typeface="Segoe UI"/>
                <a:ea typeface="Segoe UI"/>
                <a:cs typeface="Segoe UI"/>
              </a:rPr>
              <a:t>make documentation effortless → improve communication → generate visibility automatically.</a:t>
            </a:r>
          </a:p>
          <a:p>
            <a:endParaRPr lang="en-US" b="0" i="0">
              <a:latin typeface="Segoe UI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93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a9c6bc5-92dc-4cf8-8aa7-3508258fbd06}" enabled="1" method="Standard" siteId="{57368c21-b8cf-42cf-bd0b-43ecd4bc62a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268</Words>
  <Application>Microsoft Office PowerPoint</Application>
  <PresentationFormat>Widescreen</PresentationFormat>
  <Paragraphs>37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Segoe UI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Cor Houkes</dc:creator>
  <cp:lastModifiedBy>Cor Houkes</cp:lastModifiedBy>
  <cp:revision>11</cp:revision>
  <dcterms:created xsi:type="dcterms:W3CDTF">2026-10-15T11:50:23Z</dcterms:created>
  <dcterms:modified xsi:type="dcterms:W3CDTF">2026-10-15T11:56:33Z</dcterms:modified>
</cp:coreProperties>
</file>